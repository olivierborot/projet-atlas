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17" r:id="rId2"/>
    <p:sldId id="328" r:id="rId3"/>
    <p:sldId id="319" r:id="rId4"/>
    <p:sldId id="329" r:id="rId5"/>
    <p:sldId id="330" r:id="rId6"/>
    <p:sldId id="336" r:id="rId7"/>
    <p:sldId id="331" r:id="rId8"/>
    <p:sldId id="332" r:id="rId9"/>
    <p:sldId id="333" r:id="rId10"/>
    <p:sldId id="334" r:id="rId11"/>
    <p:sldId id="335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4B65"/>
    <a:srgbClr val="C9412B"/>
    <a:srgbClr val="D5E9ED"/>
    <a:srgbClr val="FDE9AE"/>
    <a:srgbClr val="FBFAFB"/>
    <a:srgbClr val="F8C534"/>
    <a:srgbClr val="005497"/>
    <a:srgbClr val="FEF5DA"/>
    <a:srgbClr val="2596BE"/>
    <a:srgbClr val="BDB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8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C14AE-A653-4AB7-98D8-7BB8B5B77FFB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3C3D7-9DB0-433D-BFB3-084A852072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5338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00F86-C478-4E71-996C-5DE32CDA1999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446AA4-5B08-42D2-871F-5534B55540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10333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211D82-5964-4E31-AD15-D36753248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CFE1E2-04A0-4929-BAE7-78815878E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BF72C6-EB1A-42CF-AF57-13C339746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C735B-537C-4BD3-B839-7EEC429DD3E2}" type="datetime1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A46409-B59C-4EA6-BF22-35C8AE49B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A0CDF5-B583-4EE1-82AD-27B0329B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8525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926002-48EC-47AE-AF78-B247743FA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5DF1A2-934C-42F1-A248-F962E9D47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2AA332-F536-4ACD-80BC-3FCCFE48C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CA581-1FE0-4575-B609-A4968AF1876B}" type="datetime1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6B38A4-EC08-4879-9BD7-71F839172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77F465-883D-41FA-84FE-FB7A3E5E5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8982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B37B7C-A477-4A02-82CA-AD276F49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76B102-5742-48A7-82B6-94CEDCE42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76197F-FC82-4A28-AA2F-8C6FB619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FD3F6-81D1-4017-9630-72A0F1F7A800}" type="datetime1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17E472-FDD0-4B5D-9976-A39A40B56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D47A9B-827A-4D87-830A-3A212F3D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652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2477D0-6C80-49FC-B6B1-7F9BBA8EF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E81514-1E28-4018-B655-279FE0326A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1EAAF6-FDA2-4BAB-9884-E01434973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8B1670-B7D9-41D2-88FF-D966DBA2C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2753-F7FE-45F0-85CC-02E09613CADB}" type="datetime1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5178EF-63E2-47DD-8544-0DE101FE0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39686B-B9D6-4A80-859D-B8E452B7B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4496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109E34-6102-4CDF-BAC0-8B3BD16A4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D40469-F432-43C1-A027-BF865C7CD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B451B4-FBCF-4F91-A98E-5AEE600EF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95CFF5F-BB85-4403-B55C-36431C86A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CC7946C-53E9-4338-95C6-CF4861E81A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26CD4DE-C347-47FB-AAF2-F734CF91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698B-59BC-4420-8134-463CCB8A25E0}" type="datetime1">
              <a:rPr lang="fr-FR" smtClean="0"/>
              <a:t>22/01/2026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EB9E126-156C-4CB5-8477-9725B14D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EC8D2E4-169D-4530-AF99-A854374A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699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62F34F-3112-4F21-B96C-F8DD5A0B1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49FC094-5B1A-40D7-89F4-E470B14A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EBBE-894E-4A08-8633-CFF33BAD5E77}" type="datetime1">
              <a:rPr lang="fr-FR" smtClean="0"/>
              <a:t>22/01/2026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E2422A9-EC64-4E7A-96C0-CB45081AB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520A89-EE15-46FE-A280-ADFC24FA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6503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12212FB-7973-4105-9DC1-3364401C8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3A838-CE96-46C4-A91B-52940C4C004C}" type="datetime1">
              <a:rPr lang="fr-FR" smtClean="0"/>
              <a:t>22/01/2026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3CCBF28-0BAF-425F-BEAD-9DE621B2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C4BE0C-628E-4DF2-9957-147CCB3E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079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96AFAF-565C-4B05-A612-CCC4B446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3A0565-16D7-42B2-86AE-E10E4E79E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7A61DEE-D702-4280-B310-E388C276A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5C66102-9A76-4CA2-9988-E90AB5B4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6CA3-6EBD-45BD-9354-93A44B6558BD}" type="datetime1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323525B-8DF7-432A-9906-BA1067B0C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CCD73C9-2D10-4786-BE06-5AE78B5E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5118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E0A61F-4B04-492D-B013-93B102E76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96F15E3-BFD9-44D5-BE9D-EE973AA81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F26A35-456D-4842-B9E2-E98C698A6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AF04F6-1CB0-473E-9331-09CB657C5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31F08-1EEA-4D4E-B7DA-934F5A78FD3A}" type="datetime1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CF48DC5-3AA8-4EC6-9824-AB50C04EE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3563CD-F107-48EC-B20C-1BBE142D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5519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F79FF7-B964-420D-860D-8B015C544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5E6F36-B580-45A3-8A3A-1768AA634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EC2A27-FCF8-46A5-AE9B-F9E4DA7C1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93A5-5538-4041-8CE7-A675026268D4}" type="datetime1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F06234-0102-4F4D-894B-8CCA8A1CC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DAF568-7D69-443D-9DCC-12044755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6304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B10859B-AAC2-4DAD-BA50-FB73D9446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3499FE4-4DD7-4002-8E7C-37ED76FBC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A9F3A3-3220-4A86-AC19-95821E51A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CF9C-47A6-4E31-B5D2-A0059C072231}" type="datetime1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88617C-D8F1-4CB6-B756-550838718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2C2AB2-504B-48AC-92EB-AC1A62C7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5798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B720DBA-166A-4F47-895E-1DF4C6947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B17589-1B6F-4DBF-8DF1-1B26A0198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1B3BF6-A76E-428C-9FB8-A8982CE57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B9300-24D9-4562-9F19-6014F2A6D292}" type="datetime1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3FF50D-2209-41CB-BBDA-596BBBD9C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D8333A-B63A-44E6-A24E-E223C09977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D780C-99FA-4D36-8226-50AECB6702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170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0" y="-406401"/>
            <a:ext cx="6934200" cy="693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chier:Logo Université Lumière Lyon 2.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" y="5119100"/>
            <a:ext cx="2638425" cy="148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e 1"/>
          <p:cNvGrpSpPr/>
          <p:nvPr/>
        </p:nvGrpSpPr>
        <p:grpSpPr>
          <a:xfrm>
            <a:off x="114300" y="1413574"/>
            <a:ext cx="7023100" cy="3339376"/>
            <a:chOff x="114300" y="1413574"/>
            <a:chExt cx="7023100" cy="3339376"/>
          </a:xfrm>
        </p:grpSpPr>
        <p:sp>
          <p:nvSpPr>
            <p:cNvPr id="15" name="ZoneTexte 14"/>
            <p:cNvSpPr txBox="1"/>
            <p:nvPr/>
          </p:nvSpPr>
          <p:spPr>
            <a:xfrm>
              <a:off x="292100" y="1413574"/>
              <a:ext cx="6845300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>
                <a:defRPr sz="6000">
                  <a:solidFill>
                    <a:schemeClr val="bg1"/>
                  </a:solidFill>
                  <a:latin typeface="Bahnschrift SemiLight" panose="020B0502040204020203" pitchFamily="34" charset="0"/>
                  <a:cs typeface="Cascadia Mono Light" panose="020B0609020000020004" pitchFamily="49" charset="0"/>
                </a:defRPr>
              </a:lvl1pPr>
            </a:lstStyle>
            <a:p>
              <a:r>
                <a:rPr lang="fr-FR" dirty="0">
                  <a:solidFill>
                    <a:schemeClr val="tx1"/>
                  </a:solidFill>
                </a:rPr>
                <a:t>NLP </a:t>
              </a:r>
              <a:r>
                <a:rPr lang="fr-FR" dirty="0" err="1">
                  <a:solidFill>
                    <a:schemeClr val="tx1"/>
                  </a:solidFill>
                </a:rPr>
                <a:t>Text</a:t>
              </a:r>
              <a:r>
                <a:rPr lang="fr-FR" dirty="0">
                  <a:solidFill>
                    <a:schemeClr val="tx1"/>
                  </a:solidFill>
                </a:rPr>
                <a:t> Mining</a:t>
              </a:r>
            </a:p>
            <a:p>
              <a:r>
                <a:rPr lang="fr-FR" dirty="0">
                  <a:solidFill>
                    <a:schemeClr val="tx1"/>
                  </a:solidFill>
                </a:rPr>
                <a:t>ATLAS</a:t>
              </a:r>
            </a:p>
            <a:p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Connecteur droit 10"/>
            <p:cNvCxnSpPr/>
            <p:nvPr/>
          </p:nvCxnSpPr>
          <p:spPr>
            <a:xfrm>
              <a:off x="292100" y="3557544"/>
              <a:ext cx="5486400" cy="0"/>
            </a:xfrm>
            <a:prstGeom prst="line">
              <a:avLst/>
            </a:prstGeom>
            <a:ln>
              <a:solidFill>
                <a:srgbClr val="133F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ZoneTexte 15"/>
            <p:cNvSpPr txBox="1"/>
            <p:nvPr/>
          </p:nvSpPr>
          <p:spPr>
            <a:xfrm>
              <a:off x="114300" y="3798843"/>
              <a:ext cx="60452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/>
                <a:t>Analyse régionale des offres d’emploi</a:t>
              </a:r>
            </a:p>
            <a:p>
              <a:pPr algn="ctr"/>
              <a:endParaRPr lang="fr-FR" sz="2800" dirty="0"/>
            </a:p>
          </p:txBody>
        </p:sp>
      </p:grpSp>
      <p:sp>
        <p:nvSpPr>
          <p:cNvPr id="17" name="ZoneTexte 16"/>
          <p:cNvSpPr txBox="1"/>
          <p:nvPr/>
        </p:nvSpPr>
        <p:spPr>
          <a:xfrm>
            <a:off x="2632075" y="6218773"/>
            <a:ext cx="7054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Cyrille PECNIK - Mohamed Riad SAHRANE - Olivier BOROT</a:t>
            </a:r>
          </a:p>
          <a:p>
            <a:pPr algn="ctr"/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3889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C3F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203200" y="203368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Introduction à l’application</a:t>
            </a:r>
          </a:p>
        </p:txBody>
      </p:sp>
      <p:pic>
        <p:nvPicPr>
          <p:cNvPr id="6" name="Picture 2" descr="Logo.png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652" y="-133165"/>
            <a:ext cx="1695635" cy="169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/>
          <p:cNvSpPr txBox="1"/>
          <p:nvPr/>
        </p:nvSpPr>
        <p:spPr>
          <a:xfrm>
            <a:off x="203200" y="-1082246"/>
            <a:ext cx="568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Sommaire</a:t>
            </a:r>
            <a:endParaRPr lang="fr-FR" sz="2000" dirty="0">
              <a:solidFill>
                <a:schemeClr val="bg1"/>
              </a:solidFill>
              <a:latin typeface="Bahnschrift SemiLight" panose="020B0502040204020203" pitchFamily="34" charset="0"/>
              <a:cs typeface="Cascadia Mono Light" panose="020B0609020000020004" pitchFamily="49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-5073650" y="1642342"/>
            <a:ext cx="48450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/>
              <a:t>▶</a:t>
            </a:r>
            <a:r>
              <a:rPr lang="fr-FR" sz="3200" dirty="0"/>
              <a:t> Données utilisées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▶</a:t>
            </a:r>
            <a:r>
              <a:rPr lang="fr-FR" sz="3200" dirty="0"/>
              <a:t> Entrepôt de données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▶</a:t>
            </a:r>
            <a:r>
              <a:rPr lang="fr-FR" sz="3200" dirty="0"/>
              <a:t> Web application </a:t>
            </a:r>
            <a:r>
              <a:rPr lang="fr-FR" sz="3200" dirty="0" err="1"/>
              <a:t>Streamlit</a:t>
            </a:r>
            <a:endParaRPr lang="fr-FR" sz="3200" dirty="0"/>
          </a:p>
          <a:p>
            <a:pPr>
              <a:lnSpc>
                <a:spcPct val="150000"/>
              </a:lnSpc>
            </a:pPr>
            <a:r>
              <a:rPr lang="fr-FR" sz="2400" dirty="0"/>
              <a:t>▶</a:t>
            </a:r>
            <a:r>
              <a:rPr lang="fr-FR" sz="3200" dirty="0"/>
              <a:t> </a:t>
            </a:r>
            <a:r>
              <a:rPr lang="fr-FR" sz="3200" dirty="0" err="1"/>
              <a:t>Dockerisation</a:t>
            </a:r>
            <a:endParaRPr lang="fr-FR" sz="3200" dirty="0"/>
          </a:p>
          <a:p>
            <a:pPr>
              <a:lnSpc>
                <a:spcPct val="150000"/>
              </a:lnSpc>
            </a:pPr>
            <a:r>
              <a:rPr lang="fr-FR" sz="2400" dirty="0"/>
              <a:t>▶</a:t>
            </a:r>
            <a:r>
              <a:rPr lang="fr-FR" sz="3200" dirty="0"/>
              <a:t> Analyses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▶</a:t>
            </a:r>
            <a:r>
              <a:rPr lang="fr-FR" sz="3200" dirty="0"/>
              <a:t> Bilan critique</a:t>
            </a:r>
          </a:p>
        </p:txBody>
      </p:sp>
      <p:grpSp>
        <p:nvGrpSpPr>
          <p:cNvPr id="14" name="Groupe 13"/>
          <p:cNvGrpSpPr/>
          <p:nvPr/>
        </p:nvGrpSpPr>
        <p:grpSpPr>
          <a:xfrm>
            <a:off x="-7600950" y="1413574"/>
            <a:ext cx="7023100" cy="3339376"/>
            <a:chOff x="114300" y="1413574"/>
            <a:chExt cx="7023100" cy="3339376"/>
          </a:xfrm>
        </p:grpSpPr>
        <p:sp>
          <p:nvSpPr>
            <p:cNvPr id="15" name="ZoneTexte 14"/>
            <p:cNvSpPr txBox="1"/>
            <p:nvPr/>
          </p:nvSpPr>
          <p:spPr>
            <a:xfrm>
              <a:off x="292100" y="1413574"/>
              <a:ext cx="6845300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>
                <a:defRPr sz="6000">
                  <a:solidFill>
                    <a:schemeClr val="bg1"/>
                  </a:solidFill>
                  <a:latin typeface="Bahnschrift SemiLight" panose="020B0502040204020203" pitchFamily="34" charset="0"/>
                  <a:cs typeface="Cascadia Mono Light" panose="020B0609020000020004" pitchFamily="49" charset="0"/>
                </a:defRPr>
              </a:lvl1pPr>
            </a:lstStyle>
            <a:p>
              <a:r>
                <a:rPr lang="fr-FR" dirty="0">
                  <a:solidFill>
                    <a:schemeClr val="tx1"/>
                  </a:solidFill>
                </a:rPr>
                <a:t>NLP </a:t>
              </a:r>
              <a:r>
                <a:rPr lang="fr-FR" dirty="0" err="1">
                  <a:solidFill>
                    <a:schemeClr val="tx1"/>
                  </a:solidFill>
                </a:rPr>
                <a:t>Text</a:t>
              </a:r>
              <a:r>
                <a:rPr lang="fr-FR" dirty="0">
                  <a:solidFill>
                    <a:schemeClr val="tx1"/>
                  </a:solidFill>
                </a:rPr>
                <a:t> Mining</a:t>
              </a:r>
            </a:p>
            <a:p>
              <a:r>
                <a:rPr lang="fr-FR" dirty="0">
                  <a:solidFill>
                    <a:schemeClr val="tx1"/>
                  </a:solidFill>
                </a:rPr>
                <a:t>ATLAS</a:t>
              </a:r>
            </a:p>
            <a:p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Connecteur droit 15"/>
            <p:cNvCxnSpPr/>
            <p:nvPr/>
          </p:nvCxnSpPr>
          <p:spPr>
            <a:xfrm>
              <a:off x="292100" y="3557544"/>
              <a:ext cx="5486400" cy="0"/>
            </a:xfrm>
            <a:prstGeom prst="line">
              <a:avLst/>
            </a:prstGeom>
            <a:ln>
              <a:solidFill>
                <a:srgbClr val="133F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/>
            <p:cNvSpPr txBox="1"/>
            <p:nvPr/>
          </p:nvSpPr>
          <p:spPr>
            <a:xfrm>
              <a:off x="114300" y="3798843"/>
              <a:ext cx="60452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/>
                <a:t>Analyse régionale des offres d’emploi</a:t>
              </a:r>
            </a:p>
            <a:p>
              <a:pPr algn="ctr"/>
              <a:endParaRPr lang="fr-FR" sz="2800" dirty="0"/>
            </a:p>
          </p:txBody>
        </p:sp>
      </p:grpSp>
      <p:cxnSp>
        <p:nvCxnSpPr>
          <p:cNvPr id="22" name="Connecteur droit 21"/>
          <p:cNvCxnSpPr/>
          <p:nvPr/>
        </p:nvCxnSpPr>
        <p:spPr>
          <a:xfrm>
            <a:off x="9118600" y="1923792"/>
            <a:ext cx="0" cy="43012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>
            <a:off x="3552824" y="1865399"/>
            <a:ext cx="0" cy="43012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476250" y="1810883"/>
            <a:ext cx="2362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latin typeface="Bahnschrift SemiLight" panose="020B0502040204020203" pitchFamily="34" charset="0"/>
                <a:cs typeface="Cascadia Mono Light" panose="020B0609020000020004" pitchFamily="49" charset="0"/>
              </a:rPr>
              <a:t>Constat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4991100" y="1865399"/>
            <a:ext cx="2362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latin typeface="Bahnschrift SemiLight" panose="020B0502040204020203" pitchFamily="34" charset="0"/>
                <a:cs typeface="Cascadia Mono Light" panose="020B0609020000020004" pitchFamily="49" charset="0"/>
              </a:rPr>
              <a:t>Solution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9296400" y="1865399"/>
            <a:ext cx="2362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latin typeface="Bahnschrift SemiLight" panose="020B0502040204020203" pitchFamily="34" charset="0"/>
                <a:cs typeface="Cascadia Mono Light" panose="020B0609020000020004" pitchFamily="49" charset="0"/>
              </a:rPr>
              <a:t>Résultat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7174" y="2728023"/>
            <a:ext cx="3308350" cy="2352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Les offres d’emplois sont :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2000" dirty="0"/>
              <a:t>Dispersées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2000" dirty="0"/>
              <a:t>Non structurées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2000" dirty="0"/>
              <a:t>Difficile à analyser globalement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4298950" y="2708507"/>
            <a:ext cx="374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Pipeline automatisé complet</a:t>
            </a:r>
          </a:p>
        </p:txBody>
      </p:sp>
      <p:grpSp>
        <p:nvGrpSpPr>
          <p:cNvPr id="37" name="Groupe 36"/>
          <p:cNvGrpSpPr/>
          <p:nvPr/>
        </p:nvGrpSpPr>
        <p:grpSpPr>
          <a:xfrm>
            <a:off x="3629025" y="3154343"/>
            <a:ext cx="1539875" cy="806402"/>
            <a:chOff x="3629025" y="3154343"/>
            <a:chExt cx="1539875" cy="806402"/>
          </a:xfrm>
        </p:grpSpPr>
        <p:sp>
          <p:nvSpPr>
            <p:cNvPr id="35" name="Rectangle 34"/>
            <p:cNvSpPr/>
            <p:nvPr/>
          </p:nvSpPr>
          <p:spPr>
            <a:xfrm>
              <a:off x="3629025" y="3154343"/>
              <a:ext cx="1539875" cy="80640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fr-FR" sz="24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36" name="ZoneTexte 35"/>
            <p:cNvSpPr txBox="1"/>
            <p:nvPr/>
          </p:nvSpPr>
          <p:spPr>
            <a:xfrm>
              <a:off x="3629025" y="3337178"/>
              <a:ext cx="15398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Collecte</a:t>
              </a:r>
              <a:endParaRPr lang="fr-FR" dirty="0"/>
            </a:p>
          </p:txBody>
        </p:sp>
      </p:grpSp>
      <p:grpSp>
        <p:nvGrpSpPr>
          <p:cNvPr id="38" name="Groupe 37"/>
          <p:cNvGrpSpPr/>
          <p:nvPr/>
        </p:nvGrpSpPr>
        <p:grpSpPr>
          <a:xfrm>
            <a:off x="4543422" y="4553504"/>
            <a:ext cx="1539875" cy="806402"/>
            <a:chOff x="3629025" y="3154343"/>
            <a:chExt cx="1539875" cy="806402"/>
          </a:xfrm>
        </p:grpSpPr>
        <p:sp>
          <p:nvSpPr>
            <p:cNvPr id="39" name="Rectangle 38"/>
            <p:cNvSpPr/>
            <p:nvPr/>
          </p:nvSpPr>
          <p:spPr>
            <a:xfrm>
              <a:off x="3629025" y="3154343"/>
              <a:ext cx="1539875" cy="80640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fr-FR" sz="24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0" name="ZoneTexte 39"/>
            <p:cNvSpPr txBox="1"/>
            <p:nvPr/>
          </p:nvSpPr>
          <p:spPr>
            <a:xfrm>
              <a:off x="3629025" y="3337178"/>
              <a:ext cx="15398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Nettoyage</a:t>
              </a:r>
              <a:endParaRPr lang="fr-FR" dirty="0"/>
            </a:p>
          </p:txBody>
        </p:sp>
      </p:grpSp>
      <p:grpSp>
        <p:nvGrpSpPr>
          <p:cNvPr id="41" name="Groupe 40"/>
          <p:cNvGrpSpPr/>
          <p:nvPr/>
        </p:nvGrpSpPr>
        <p:grpSpPr>
          <a:xfrm>
            <a:off x="5603874" y="3161972"/>
            <a:ext cx="1539875" cy="806402"/>
            <a:chOff x="3629025" y="3154343"/>
            <a:chExt cx="1539875" cy="806402"/>
          </a:xfrm>
        </p:grpSpPr>
        <p:sp>
          <p:nvSpPr>
            <p:cNvPr id="42" name="Rectangle 41"/>
            <p:cNvSpPr/>
            <p:nvPr/>
          </p:nvSpPr>
          <p:spPr>
            <a:xfrm>
              <a:off x="3629025" y="3154343"/>
              <a:ext cx="1539875" cy="80640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fr-FR" sz="24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3" name="ZoneTexte 42"/>
            <p:cNvSpPr txBox="1"/>
            <p:nvPr/>
          </p:nvSpPr>
          <p:spPr>
            <a:xfrm>
              <a:off x="3629025" y="3337178"/>
              <a:ext cx="15398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NLP</a:t>
              </a:r>
              <a:endParaRPr lang="fr-FR" dirty="0"/>
            </a:p>
          </p:txBody>
        </p:sp>
      </p:grpSp>
      <p:grpSp>
        <p:nvGrpSpPr>
          <p:cNvPr id="44" name="Groupe 43"/>
          <p:cNvGrpSpPr/>
          <p:nvPr/>
        </p:nvGrpSpPr>
        <p:grpSpPr>
          <a:xfrm>
            <a:off x="6861174" y="4553504"/>
            <a:ext cx="1539875" cy="806402"/>
            <a:chOff x="3629025" y="3154343"/>
            <a:chExt cx="1539875" cy="806402"/>
          </a:xfrm>
        </p:grpSpPr>
        <p:sp>
          <p:nvSpPr>
            <p:cNvPr id="45" name="Rectangle 44"/>
            <p:cNvSpPr/>
            <p:nvPr/>
          </p:nvSpPr>
          <p:spPr>
            <a:xfrm>
              <a:off x="3629025" y="3154343"/>
              <a:ext cx="1539875" cy="80640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fr-FR" sz="24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6" name="ZoneTexte 45"/>
            <p:cNvSpPr txBox="1"/>
            <p:nvPr/>
          </p:nvSpPr>
          <p:spPr>
            <a:xfrm>
              <a:off x="3629025" y="3337178"/>
              <a:ext cx="15398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Stockage</a:t>
              </a:r>
              <a:endParaRPr lang="fr-FR" dirty="0"/>
            </a:p>
          </p:txBody>
        </p:sp>
      </p:grpSp>
      <p:grpSp>
        <p:nvGrpSpPr>
          <p:cNvPr id="47" name="Groupe 46"/>
          <p:cNvGrpSpPr/>
          <p:nvPr/>
        </p:nvGrpSpPr>
        <p:grpSpPr>
          <a:xfrm>
            <a:off x="7502525" y="3151506"/>
            <a:ext cx="1539875" cy="806402"/>
            <a:chOff x="3629025" y="3154343"/>
            <a:chExt cx="1539875" cy="806402"/>
          </a:xfrm>
        </p:grpSpPr>
        <p:sp>
          <p:nvSpPr>
            <p:cNvPr id="48" name="Rectangle 47"/>
            <p:cNvSpPr/>
            <p:nvPr/>
          </p:nvSpPr>
          <p:spPr>
            <a:xfrm>
              <a:off x="3629025" y="3154343"/>
              <a:ext cx="1539875" cy="80640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fr-FR" sz="24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9" name="ZoneTexte 48"/>
            <p:cNvSpPr txBox="1"/>
            <p:nvPr/>
          </p:nvSpPr>
          <p:spPr>
            <a:xfrm>
              <a:off x="3629025" y="3337178"/>
              <a:ext cx="15398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Visuels</a:t>
              </a:r>
              <a:endParaRPr lang="fr-FR" dirty="0"/>
            </a:p>
          </p:txBody>
        </p:sp>
      </p:grpSp>
      <p:cxnSp>
        <p:nvCxnSpPr>
          <p:cNvPr id="51" name="Connecteur droit avec flèche 50"/>
          <p:cNvCxnSpPr>
            <a:stCxn id="35" idx="2"/>
            <a:endCxn id="39" idx="0"/>
          </p:cNvCxnSpPr>
          <p:nvPr/>
        </p:nvCxnSpPr>
        <p:spPr>
          <a:xfrm>
            <a:off x="4398963" y="3960745"/>
            <a:ext cx="914397" cy="5927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necteur droit 52"/>
          <p:cNvCxnSpPr>
            <a:stCxn id="39" idx="0"/>
            <a:endCxn id="42" idx="2"/>
          </p:cNvCxnSpPr>
          <p:nvPr/>
        </p:nvCxnSpPr>
        <p:spPr>
          <a:xfrm flipV="1">
            <a:off x="5313360" y="3968374"/>
            <a:ext cx="1060452" cy="585130"/>
          </a:xfrm>
          <a:prstGeom prst="line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eur droit avec flèche 54"/>
          <p:cNvCxnSpPr>
            <a:stCxn id="42" idx="2"/>
            <a:endCxn id="45" idx="0"/>
          </p:cNvCxnSpPr>
          <p:nvPr/>
        </p:nvCxnSpPr>
        <p:spPr>
          <a:xfrm>
            <a:off x="6373812" y="3968374"/>
            <a:ext cx="1257300" cy="5851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necteur droit avec flèche 56"/>
          <p:cNvCxnSpPr>
            <a:stCxn id="45" idx="0"/>
            <a:endCxn id="48" idx="2"/>
          </p:cNvCxnSpPr>
          <p:nvPr/>
        </p:nvCxnSpPr>
        <p:spPr>
          <a:xfrm flipV="1">
            <a:off x="7631112" y="3957908"/>
            <a:ext cx="641351" cy="5955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188450" y="2893173"/>
            <a:ext cx="330835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fr-FR" sz="2000" dirty="0"/>
              <a:t>5000 offres collectées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fr-FR" sz="2000" dirty="0"/>
              <a:t>35000 communes </a:t>
            </a:r>
            <a:r>
              <a:rPr lang="fr-FR" sz="2000" dirty="0" err="1"/>
              <a:t>géolocalisées</a:t>
            </a:r>
            <a:endParaRPr lang="fr-FR" sz="20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fr-FR" sz="2000" dirty="0"/>
              <a:t>8 thèmes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fr-FR" sz="2000" dirty="0"/>
              <a:t>384 dimensions d’</a:t>
            </a:r>
            <a:r>
              <a:rPr lang="fr-FR" sz="2000" dirty="0" err="1"/>
              <a:t>embeddings</a:t>
            </a:r>
            <a:endParaRPr lang="fr-FR" sz="20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endParaRPr lang="fr-FR" sz="20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endParaRPr lang="fr-FR" sz="2000" dirty="0"/>
          </a:p>
        </p:txBody>
      </p:sp>
      <p:sp>
        <p:nvSpPr>
          <p:cNvPr id="59" name="Espace réservé du numéro de diapositive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817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C3F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203200" y="203368"/>
            <a:ext cx="568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Sommaire</a:t>
            </a:r>
            <a:endParaRPr lang="fr-FR" sz="2000" dirty="0">
              <a:solidFill>
                <a:schemeClr val="bg1"/>
              </a:solidFill>
              <a:latin typeface="Bahnschrift SemiLight" panose="020B0502040204020203" pitchFamily="34" charset="0"/>
              <a:cs typeface="Cascadia Mono Light" panose="020B0609020000020004" pitchFamily="49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203200" y="1642342"/>
            <a:ext cx="84182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/>
              <a:t>▶</a:t>
            </a:r>
            <a:r>
              <a:rPr lang="fr-FR" sz="3200" dirty="0"/>
              <a:t> Données utilisées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▶</a:t>
            </a:r>
            <a:r>
              <a:rPr lang="fr-FR" sz="3200" dirty="0"/>
              <a:t> Entrepôt de données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▶</a:t>
            </a:r>
            <a:r>
              <a:rPr lang="fr-FR" sz="3200" dirty="0"/>
              <a:t> Web application </a:t>
            </a:r>
            <a:r>
              <a:rPr lang="fr-FR" sz="3200" dirty="0" err="1"/>
              <a:t>Streamlit</a:t>
            </a:r>
            <a:endParaRPr lang="fr-FR" sz="3200" dirty="0"/>
          </a:p>
          <a:p>
            <a:pPr>
              <a:lnSpc>
                <a:spcPct val="150000"/>
              </a:lnSpc>
            </a:pPr>
            <a:r>
              <a:rPr lang="fr-FR" sz="2400" dirty="0"/>
              <a:t>▶</a:t>
            </a:r>
            <a:r>
              <a:rPr lang="fr-FR" sz="3200" dirty="0"/>
              <a:t> </a:t>
            </a:r>
            <a:r>
              <a:rPr lang="fr-FR" sz="3200" dirty="0" err="1"/>
              <a:t>Dockerisation</a:t>
            </a:r>
            <a:endParaRPr lang="fr-FR" sz="3200" dirty="0"/>
          </a:p>
          <a:p>
            <a:pPr>
              <a:lnSpc>
                <a:spcPct val="150000"/>
              </a:lnSpc>
            </a:pPr>
            <a:r>
              <a:rPr lang="fr-FR" sz="2400" dirty="0"/>
              <a:t>▶</a:t>
            </a:r>
            <a:r>
              <a:rPr lang="fr-FR" sz="3200" dirty="0"/>
              <a:t> Analyses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▶</a:t>
            </a:r>
            <a:r>
              <a:rPr lang="fr-FR" sz="3200" dirty="0"/>
              <a:t> Bilan critique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203200" y="-1178288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Introduction à l’application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3</a:t>
            </a:fld>
            <a:endParaRPr lang="fr-FR"/>
          </a:p>
        </p:txBody>
      </p:sp>
      <p:pic>
        <p:nvPicPr>
          <p:cNvPr id="19" name="Picture 2" descr="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100" y="203368"/>
            <a:ext cx="6934200" cy="693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765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C3F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2" descr="Logo.png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652" y="-133165"/>
            <a:ext cx="1695635" cy="169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/>
          <p:cNvSpPr txBox="1"/>
          <p:nvPr/>
        </p:nvSpPr>
        <p:spPr>
          <a:xfrm>
            <a:off x="203200" y="-1219032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Introduction à l’application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203200" y="203368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Données utilisées</a:t>
            </a:r>
          </a:p>
        </p:txBody>
      </p:sp>
      <p:cxnSp>
        <p:nvCxnSpPr>
          <p:cNvPr id="4" name="Connecteur droit 3"/>
          <p:cNvCxnSpPr/>
          <p:nvPr/>
        </p:nvCxnSpPr>
        <p:spPr>
          <a:xfrm>
            <a:off x="6096000" y="1809750"/>
            <a:ext cx="0" cy="470535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à coins arrondis 18"/>
          <p:cNvSpPr/>
          <p:nvPr/>
        </p:nvSpPr>
        <p:spPr>
          <a:xfrm>
            <a:off x="476250" y="2235200"/>
            <a:ext cx="5200650" cy="4127500"/>
          </a:xfrm>
          <a:prstGeom prst="roundRect">
            <a:avLst>
              <a:gd name="adj" fmla="val 3696"/>
            </a:avLst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endParaRPr lang="fr-FR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203200" y="-1219033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Entrepôt de données</a:t>
            </a:r>
          </a:p>
        </p:txBody>
      </p:sp>
      <p:sp>
        <p:nvSpPr>
          <p:cNvPr id="22" name="Rectangle à coins arrondis 21"/>
          <p:cNvSpPr/>
          <p:nvPr/>
        </p:nvSpPr>
        <p:spPr>
          <a:xfrm>
            <a:off x="6515101" y="2235200"/>
            <a:ext cx="5200650" cy="4127500"/>
          </a:xfrm>
          <a:prstGeom prst="roundRect">
            <a:avLst>
              <a:gd name="adj" fmla="val 3696"/>
            </a:avLst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endParaRPr lang="fr-FR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619125" y="1625768"/>
            <a:ext cx="4914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France Travail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6515101" y="1644547"/>
            <a:ext cx="4914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 err="1"/>
              <a:t>Welcome</a:t>
            </a:r>
            <a:r>
              <a:rPr lang="fr-FR" sz="3200" dirty="0"/>
              <a:t> to the Jungle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661987" y="2432050"/>
            <a:ext cx="4829175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2800" dirty="0"/>
              <a:t>Données structurées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2800" dirty="0"/>
              <a:t>API OAuth2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2800" dirty="0"/>
              <a:t>Limite de 3000 offres/requête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2800" dirty="0"/>
              <a:t>Coordonnées fournies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6700838" y="2432050"/>
            <a:ext cx="4829175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2800" dirty="0"/>
              <a:t>Web </a:t>
            </a:r>
            <a:r>
              <a:rPr lang="fr-FR" sz="2800" dirty="0" err="1"/>
              <a:t>Scraping</a:t>
            </a:r>
            <a:r>
              <a:rPr lang="fr-FR" sz="2800" dirty="0"/>
              <a:t> </a:t>
            </a:r>
            <a:r>
              <a:rPr lang="fr-FR" sz="2800" dirty="0" err="1"/>
              <a:t>Selenium</a:t>
            </a:r>
            <a:endParaRPr lang="fr-FR" sz="28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2800" dirty="0"/>
              <a:t>Aucune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2800" dirty="0"/>
              <a:t>Dépend du scrolling infini (environ 500 offres)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fr-FR" sz="2800" dirty="0"/>
              <a:t>Géocodage nécessaire</a:t>
            </a: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789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C3F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2" descr="Logo.png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652" y="-133165"/>
            <a:ext cx="1695635" cy="169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ZoneTexte 15"/>
          <p:cNvSpPr txBox="1"/>
          <p:nvPr/>
        </p:nvSpPr>
        <p:spPr>
          <a:xfrm>
            <a:off x="203200" y="203368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Entrepôt de données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203200" y="-1421810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Données utilisées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203200" y="-1351775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Web </a:t>
            </a:r>
            <a:r>
              <a:rPr lang="fr-FR" sz="6000" dirty="0" err="1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app</a:t>
            </a:r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. </a:t>
            </a:r>
            <a:r>
              <a:rPr lang="fr-FR" sz="6000" dirty="0" err="1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Streamlit</a:t>
            </a:r>
            <a:endParaRPr lang="fr-FR" sz="6000" dirty="0">
              <a:solidFill>
                <a:schemeClr val="bg1"/>
              </a:solidFill>
              <a:latin typeface="Bahnschrift SemiLight" panose="020B0502040204020203" pitchFamily="34" charset="0"/>
              <a:cs typeface="Cascadia Mono Light" panose="020B0609020000020004" pitchFamily="49" charset="0"/>
            </a:endParaRPr>
          </a:p>
        </p:txBody>
      </p:sp>
      <p:pic>
        <p:nvPicPr>
          <p:cNvPr id="12" name="Picture 2" descr="D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29" y="1555565"/>
            <a:ext cx="8414473" cy="5029200"/>
          </a:xfrm>
          <a:prstGeom prst="rect">
            <a:avLst/>
          </a:prstGeom>
          <a:noFill/>
          <a:ln w="222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/>
          <p:cNvSpPr txBox="1"/>
          <p:nvPr/>
        </p:nvSpPr>
        <p:spPr>
          <a:xfrm>
            <a:off x="9064192" y="1555565"/>
            <a:ext cx="2842057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- Base de données </a:t>
            </a:r>
            <a:r>
              <a:rPr lang="fr-FR" b="1" dirty="0" err="1"/>
              <a:t>Supabase</a:t>
            </a:r>
            <a:r>
              <a:rPr lang="fr-FR" b="1" dirty="0"/>
              <a:t> </a:t>
            </a:r>
            <a:r>
              <a:rPr lang="fr-FR" dirty="0"/>
              <a:t>(PostgreSQL)</a:t>
            </a:r>
            <a:endParaRPr lang="fr-FR" b="1" dirty="0"/>
          </a:p>
          <a:p>
            <a:pPr>
              <a:lnSpc>
                <a:spcPct val="150000"/>
              </a:lnSpc>
            </a:pPr>
            <a:r>
              <a:rPr lang="fr-FR" dirty="0"/>
              <a:t>- Modèle en étoile </a:t>
            </a:r>
          </a:p>
          <a:p>
            <a:pPr>
              <a:lnSpc>
                <a:spcPct val="150000"/>
              </a:lnSpc>
            </a:pPr>
            <a:r>
              <a:rPr lang="fr-FR" dirty="0"/>
              <a:t>- dimensions :</a:t>
            </a:r>
          </a:p>
          <a:p>
            <a:pPr>
              <a:lnSpc>
                <a:spcPct val="150000"/>
              </a:lnSpc>
            </a:pPr>
            <a:r>
              <a:rPr lang="fr-FR" dirty="0"/>
              <a:t>Topics,</a:t>
            </a:r>
          </a:p>
          <a:p>
            <a:pPr>
              <a:lnSpc>
                <a:spcPct val="150000"/>
              </a:lnSpc>
            </a:pPr>
            <a:r>
              <a:rPr lang="fr-FR" dirty="0" err="1"/>
              <a:t>Skills</a:t>
            </a:r>
            <a:r>
              <a:rPr lang="fr-FR" dirty="0"/>
              <a:t>, </a:t>
            </a:r>
          </a:p>
          <a:p>
            <a:pPr>
              <a:lnSpc>
                <a:spcPct val="150000"/>
              </a:lnSpc>
            </a:pPr>
            <a:r>
              <a:rPr lang="fr-FR" dirty="0"/>
              <a:t>Sources,</a:t>
            </a:r>
          </a:p>
          <a:p>
            <a:pPr>
              <a:lnSpc>
                <a:spcPct val="150000"/>
              </a:lnSpc>
            </a:pPr>
            <a:r>
              <a:rPr lang="fr-FR" dirty="0"/>
              <a:t>Temps,</a:t>
            </a:r>
          </a:p>
          <a:p>
            <a:pPr>
              <a:lnSpc>
                <a:spcPct val="150000"/>
              </a:lnSpc>
            </a:pPr>
            <a:r>
              <a:rPr lang="fr-FR" dirty="0"/>
              <a:t>Localisation,</a:t>
            </a:r>
          </a:p>
          <a:p>
            <a:pPr>
              <a:lnSpc>
                <a:spcPct val="150000"/>
              </a:lnSpc>
            </a:pPr>
            <a:r>
              <a:rPr lang="fr-FR" dirty="0"/>
              <a:t>Catégorie métier</a:t>
            </a:r>
          </a:p>
          <a:p>
            <a:pPr>
              <a:lnSpc>
                <a:spcPct val="150000"/>
              </a:lnSpc>
            </a:pP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1587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C3F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2" descr="Logo.png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652" y="-133165"/>
            <a:ext cx="1695635" cy="169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ZoneTexte 15"/>
          <p:cNvSpPr txBox="1"/>
          <p:nvPr/>
        </p:nvSpPr>
        <p:spPr>
          <a:xfrm>
            <a:off x="203200" y="203368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Entrepôt de données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203200" y="-1421810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Données utilisées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203200" y="-1351775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Web </a:t>
            </a:r>
            <a:r>
              <a:rPr lang="fr-FR" sz="6000" dirty="0" err="1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app</a:t>
            </a:r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. </a:t>
            </a:r>
            <a:r>
              <a:rPr lang="fr-FR" sz="6000" dirty="0" err="1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Streamlit</a:t>
            </a:r>
            <a:endParaRPr lang="fr-FR" sz="6000" dirty="0">
              <a:solidFill>
                <a:schemeClr val="bg1"/>
              </a:solidFill>
              <a:latin typeface="Bahnschrift SemiLight" panose="020B0502040204020203" pitchFamily="34" charset="0"/>
              <a:cs typeface="Cascadia Mono Light" panose="020B0609020000020004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5275" y="2000161"/>
            <a:ext cx="2343150" cy="120032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France Travail Collector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09900" y="2034433"/>
            <a:ext cx="2343150" cy="113178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WTTJ </a:t>
            </a:r>
          </a:p>
          <a:p>
            <a:pPr algn="ctr">
              <a:lnSpc>
                <a:spcPct val="150000"/>
              </a:lnSpc>
            </a:pPr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Collector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38300" y="3860833"/>
            <a:ext cx="2336800" cy="57778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Pipeline NLP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43050" y="5089528"/>
            <a:ext cx="2533650" cy="120032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Supabase</a:t>
            </a:r>
            <a:endParaRPr lang="fr-FR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Base de données</a:t>
            </a:r>
          </a:p>
        </p:txBody>
      </p:sp>
      <p:cxnSp>
        <p:nvCxnSpPr>
          <p:cNvPr id="31" name="Connecteur droit avec flèche 30"/>
          <p:cNvCxnSpPr>
            <a:stCxn id="2" idx="2"/>
            <a:endCxn id="14" idx="0"/>
          </p:cNvCxnSpPr>
          <p:nvPr/>
        </p:nvCxnSpPr>
        <p:spPr>
          <a:xfrm>
            <a:off x="1466850" y="3200490"/>
            <a:ext cx="1339850" cy="6603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>
            <a:stCxn id="13" idx="2"/>
            <a:endCxn id="14" idx="0"/>
          </p:cNvCxnSpPr>
          <p:nvPr/>
        </p:nvCxnSpPr>
        <p:spPr>
          <a:xfrm flipH="1">
            <a:off x="2806700" y="3166218"/>
            <a:ext cx="1374775" cy="6946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/>
          <p:cNvCxnSpPr>
            <a:stCxn id="14" idx="2"/>
            <a:endCxn id="15" idx="0"/>
          </p:cNvCxnSpPr>
          <p:nvPr/>
        </p:nvCxnSpPr>
        <p:spPr>
          <a:xfrm>
            <a:off x="2806700" y="4438620"/>
            <a:ext cx="3175" cy="6509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6302375" y="4855690"/>
            <a:ext cx="47720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Risques pour la pérennité :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Changement de l’API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WTTJ peut bloquer le </a:t>
            </a:r>
            <a:r>
              <a:rPr lang="fr-FR" sz="2400" dirty="0" err="1"/>
              <a:t>scraping</a:t>
            </a: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Coûts pour </a:t>
            </a:r>
            <a:r>
              <a:rPr lang="fr-FR" sz="2400" dirty="0" err="1"/>
              <a:t>Supabase</a:t>
            </a:r>
            <a:r>
              <a:rPr lang="fr-FR" sz="2400" dirty="0"/>
              <a:t> pour </a:t>
            </a:r>
            <a:r>
              <a:rPr lang="fr-FR" sz="2400" dirty="0" err="1"/>
              <a:t>scale</a:t>
            </a:r>
            <a:endParaRPr lang="fr-FR" sz="2400" dirty="0"/>
          </a:p>
        </p:txBody>
      </p:sp>
      <p:cxnSp>
        <p:nvCxnSpPr>
          <p:cNvPr id="38" name="Connecteur droit 37"/>
          <p:cNvCxnSpPr/>
          <p:nvPr/>
        </p:nvCxnSpPr>
        <p:spPr>
          <a:xfrm>
            <a:off x="6096000" y="2000161"/>
            <a:ext cx="0" cy="41878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/>
          <p:cNvSpPr txBox="1"/>
          <p:nvPr/>
        </p:nvSpPr>
        <p:spPr>
          <a:xfrm>
            <a:off x="3174" y="6425350"/>
            <a:ext cx="601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Pipeline d’alimentation de la base de données</a:t>
            </a:r>
          </a:p>
        </p:txBody>
      </p:sp>
      <p:sp>
        <p:nvSpPr>
          <p:cNvPr id="40" name="ZoneTexte 39"/>
          <p:cNvSpPr txBox="1"/>
          <p:nvPr/>
        </p:nvSpPr>
        <p:spPr>
          <a:xfrm>
            <a:off x="6302375" y="1866919"/>
            <a:ext cx="47720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Atouts :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Sauvegarde locale (</a:t>
            </a:r>
            <a:r>
              <a:rPr lang="fr-FR" sz="2400" dirty="0" err="1"/>
              <a:t>dédoublonage</a:t>
            </a:r>
            <a:r>
              <a:rPr lang="fr-FR" sz="2400" dirty="0"/>
              <a:t>)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Enrichissement NLP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Coordonnées GPS géocodés si non disponibles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Détection des doublons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Bonne gestion des vecteurs par PostgreSQL</a:t>
            </a:r>
          </a:p>
        </p:txBody>
      </p:sp>
      <p:sp>
        <p:nvSpPr>
          <p:cNvPr id="41" name="Espace réservé du numéro de diapositive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5780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C3F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2" descr="Logo.png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652" y="-133165"/>
            <a:ext cx="1695635" cy="169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ZoneTexte 15"/>
          <p:cNvSpPr txBox="1"/>
          <p:nvPr/>
        </p:nvSpPr>
        <p:spPr>
          <a:xfrm>
            <a:off x="203200" y="203368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Web </a:t>
            </a:r>
            <a:r>
              <a:rPr lang="fr-FR" sz="6000" dirty="0" err="1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app</a:t>
            </a:r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. </a:t>
            </a:r>
            <a:r>
              <a:rPr lang="fr-FR" sz="6000" dirty="0" err="1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Streamlit</a:t>
            </a:r>
            <a:endParaRPr lang="fr-FR" sz="6000" dirty="0">
              <a:solidFill>
                <a:schemeClr val="bg1"/>
              </a:solidFill>
              <a:latin typeface="Bahnschrift SemiLight" panose="020B0502040204020203" pitchFamily="34" charset="0"/>
              <a:cs typeface="Cascadia Mono Light" panose="020B0609020000020004" pitchFamily="49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203200" y="-1421810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Entrepôt de données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03200" y="-1421810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 err="1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Dockerisation</a:t>
            </a:r>
            <a:endParaRPr lang="fr-FR" sz="6000" dirty="0">
              <a:solidFill>
                <a:schemeClr val="bg1"/>
              </a:solidFill>
              <a:latin typeface="Bahnschrift SemiLight" panose="020B0502040204020203" pitchFamily="34" charset="0"/>
              <a:cs typeface="Cascadia Mono Light" panose="020B0609020000020004" pitchFamily="49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643881"/>
            <a:ext cx="6400800" cy="333339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ZoneTexte 3"/>
          <p:cNvSpPr txBox="1"/>
          <p:nvPr/>
        </p:nvSpPr>
        <p:spPr>
          <a:xfrm>
            <a:off x="7683501" y="1625709"/>
            <a:ext cx="409864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Dashboard</a:t>
            </a:r>
            <a:r>
              <a:rPr lang="fr-FR" sz="2000" dirty="0"/>
              <a:t> : </a:t>
            </a:r>
            <a:r>
              <a:rPr lang="fr-FR" sz="2000" dirty="0" err="1"/>
              <a:t>KPIs</a:t>
            </a:r>
            <a:r>
              <a:rPr lang="fr-FR" sz="2000" dirty="0"/>
              <a:t> principaux, répartition par source/contrat</a:t>
            </a:r>
          </a:p>
          <a:p>
            <a:r>
              <a:rPr lang="fr-FR" sz="2000" b="1" dirty="0"/>
              <a:t>Carte</a:t>
            </a:r>
            <a:r>
              <a:rPr lang="fr-FR" sz="2000" dirty="0"/>
              <a:t> : Visualisation géographique des offres (</a:t>
            </a:r>
            <a:r>
              <a:rPr lang="fr-FR" sz="2000" dirty="0" err="1"/>
              <a:t>Folium</a:t>
            </a:r>
            <a:r>
              <a:rPr lang="fr-FR" sz="2000" dirty="0"/>
              <a:t>)</a:t>
            </a:r>
          </a:p>
          <a:p>
            <a:r>
              <a:rPr lang="fr-FR" sz="2000" b="1" dirty="0"/>
              <a:t>Comparaisons</a:t>
            </a:r>
            <a:r>
              <a:rPr lang="fr-FR" sz="2000" dirty="0"/>
              <a:t> : Comparaison Data </a:t>
            </a:r>
            <a:r>
              <a:rPr lang="fr-FR" sz="2000" dirty="0" err="1"/>
              <a:t>Analyst</a:t>
            </a:r>
            <a:r>
              <a:rPr lang="fr-FR" sz="2000" dirty="0"/>
              <a:t> vs Data </a:t>
            </a:r>
            <a:r>
              <a:rPr lang="fr-FR" sz="2000" dirty="0" err="1"/>
              <a:t>Scientist</a:t>
            </a:r>
            <a:r>
              <a:rPr lang="fr-FR" sz="2000" dirty="0"/>
              <a:t> vs Data </a:t>
            </a:r>
            <a:r>
              <a:rPr lang="fr-FR" sz="2000" dirty="0" err="1"/>
              <a:t>Engineer</a:t>
            </a:r>
            <a:endParaRPr lang="fr-FR" sz="2000" dirty="0"/>
          </a:p>
          <a:p>
            <a:r>
              <a:rPr lang="fr-FR" sz="2000" b="1" dirty="0"/>
              <a:t>Tendances</a:t>
            </a:r>
            <a:r>
              <a:rPr lang="fr-FR" sz="2000" dirty="0"/>
              <a:t> : Évolution temporelle des offres et salaires</a:t>
            </a:r>
          </a:p>
          <a:p>
            <a:r>
              <a:rPr lang="fr-FR" sz="2000" b="1" dirty="0"/>
              <a:t>Administration</a:t>
            </a:r>
            <a:r>
              <a:rPr lang="fr-FR" sz="2000" dirty="0"/>
              <a:t> : Lancement manuel de la collecte, enrichissement NLP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950" y="5295647"/>
            <a:ext cx="2343150" cy="113178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Front</a:t>
            </a:r>
            <a:b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fr-FR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Streamlit</a:t>
            </a:r>
            <a:endParaRPr lang="fr-FR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52850" y="5295647"/>
            <a:ext cx="2343150" cy="113178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BackEnd</a:t>
            </a:r>
            <a:endParaRPr lang="fr-FR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fr-FR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FastAPI</a:t>
            </a:r>
            <a:endParaRPr lang="fr-FR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43750" y="5295646"/>
            <a:ext cx="2343150" cy="113178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Base de données</a:t>
            </a:r>
          </a:p>
        </p:txBody>
      </p:sp>
      <p:cxnSp>
        <p:nvCxnSpPr>
          <p:cNvPr id="14" name="Connecteur droit avec flèche 13"/>
          <p:cNvCxnSpPr>
            <a:stCxn id="11" idx="3"/>
            <a:endCxn id="12" idx="1"/>
          </p:cNvCxnSpPr>
          <p:nvPr/>
        </p:nvCxnSpPr>
        <p:spPr>
          <a:xfrm>
            <a:off x="2705100" y="5861540"/>
            <a:ext cx="104775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2" idx="3"/>
            <a:endCxn id="13" idx="1"/>
          </p:cNvCxnSpPr>
          <p:nvPr/>
        </p:nvCxnSpPr>
        <p:spPr>
          <a:xfrm flipV="1">
            <a:off x="6096000" y="5861539"/>
            <a:ext cx="1047750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>
            <a:off x="7143750" y="1643881"/>
            <a:ext cx="0" cy="34415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6438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C3F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2" descr="Logo.png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652" y="-133165"/>
            <a:ext cx="1695635" cy="169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ZoneTexte 15"/>
          <p:cNvSpPr txBox="1"/>
          <p:nvPr/>
        </p:nvSpPr>
        <p:spPr>
          <a:xfrm>
            <a:off x="203200" y="203368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 err="1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Dockerisation</a:t>
            </a:r>
            <a:endParaRPr lang="fr-FR" sz="6000" dirty="0">
              <a:solidFill>
                <a:schemeClr val="bg1"/>
              </a:solidFill>
              <a:latin typeface="Bahnschrift SemiLight" panose="020B0502040204020203" pitchFamily="34" charset="0"/>
              <a:cs typeface="Cascadia Mono Light" panose="020B0609020000020004" pitchFamily="49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203200" y="-1421810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Web </a:t>
            </a:r>
            <a:r>
              <a:rPr lang="fr-FR" sz="6000" dirty="0" err="1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app</a:t>
            </a:r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. </a:t>
            </a:r>
            <a:r>
              <a:rPr lang="fr-FR" sz="6000" dirty="0" err="1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Streamlit</a:t>
            </a:r>
            <a:endParaRPr lang="fr-FR" sz="6000" dirty="0">
              <a:solidFill>
                <a:schemeClr val="bg1"/>
              </a:solidFill>
              <a:latin typeface="Bahnschrift SemiLight" panose="020B0502040204020203" pitchFamily="34" charset="0"/>
              <a:cs typeface="Cascadia Mono Light" panose="020B0609020000020004" pitchFamily="49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203200" y="-1421810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Analyses</a:t>
            </a:r>
          </a:p>
        </p:txBody>
      </p:sp>
      <p:sp>
        <p:nvSpPr>
          <p:cNvPr id="2" name="Rectangle 1"/>
          <p:cNvSpPr/>
          <p:nvPr/>
        </p:nvSpPr>
        <p:spPr>
          <a:xfrm>
            <a:off x="292469" y="1695635"/>
            <a:ext cx="11150231" cy="24445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endParaRPr lang="fr-FR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4884998" y="4140200"/>
            <a:ext cx="199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Docker conteneur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1572" y="2275827"/>
            <a:ext cx="3273426" cy="1131785"/>
          </a:xfrm>
          <a:prstGeom prst="rect">
            <a:avLst/>
          </a:prstGeom>
          <a:solidFill>
            <a:srgbClr val="214B65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Front</a:t>
            </a:r>
            <a:br>
              <a:rPr lang="fr-FR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fr-FR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Streamlit</a:t>
            </a:r>
            <a:endParaRPr lang="fr-FR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75939" y="2275827"/>
            <a:ext cx="3273426" cy="1131785"/>
          </a:xfrm>
          <a:prstGeom prst="rect">
            <a:avLst/>
          </a:prstGeom>
          <a:solidFill>
            <a:srgbClr val="214B65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BackEnd</a:t>
            </a:r>
            <a:endParaRPr lang="fr-FR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fr-FR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Fast</a:t>
            </a:r>
            <a:r>
              <a:rPr lang="fr-FR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11572" y="5257717"/>
            <a:ext cx="3273426" cy="577787"/>
          </a:xfrm>
          <a:prstGeom prst="rect">
            <a:avLst/>
          </a:prstGeom>
          <a:solidFill>
            <a:srgbClr val="214B65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Navigateur internet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75939" y="4946445"/>
            <a:ext cx="3273426" cy="1200329"/>
          </a:xfrm>
          <a:prstGeom prst="rect">
            <a:avLst/>
          </a:prstGeom>
          <a:solidFill>
            <a:srgbClr val="214B65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Base de données </a:t>
            </a:r>
            <a:r>
              <a:rPr lang="fr-FR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Supabase</a:t>
            </a:r>
            <a:endParaRPr lang="fr-FR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21" name="Connecteur droit avec flèche 20"/>
          <p:cNvCxnSpPr>
            <a:stCxn id="12" idx="3"/>
          </p:cNvCxnSpPr>
          <p:nvPr/>
        </p:nvCxnSpPr>
        <p:spPr>
          <a:xfrm flipV="1">
            <a:off x="4884998" y="2841719"/>
            <a:ext cx="1990941" cy="1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>
            <a:stCxn id="12" idx="2"/>
            <a:endCxn id="14" idx="0"/>
          </p:cNvCxnSpPr>
          <p:nvPr/>
        </p:nvCxnSpPr>
        <p:spPr>
          <a:xfrm>
            <a:off x="3248285" y="3407612"/>
            <a:ext cx="0" cy="185010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>
            <a:stCxn id="15" idx="0"/>
            <a:endCxn id="13" idx="2"/>
          </p:cNvCxnSpPr>
          <p:nvPr/>
        </p:nvCxnSpPr>
        <p:spPr>
          <a:xfrm flipV="1">
            <a:off x="8512652" y="3407612"/>
            <a:ext cx="0" cy="1538833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/>
          <p:cNvSpPr txBox="1"/>
          <p:nvPr/>
        </p:nvSpPr>
        <p:spPr>
          <a:xfrm>
            <a:off x="2511685" y="1839913"/>
            <a:ext cx="147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Docker image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7776052" y="1868005"/>
            <a:ext cx="147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Docker image</a:t>
            </a:r>
          </a:p>
        </p:txBody>
      </p:sp>
      <p:sp>
        <p:nvSpPr>
          <p:cNvPr id="30" name="Espace réservé du numéro de diapositive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8360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C3F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2" descr="Logo.png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652" y="-133165"/>
            <a:ext cx="1695635" cy="169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ZoneTexte 15"/>
          <p:cNvSpPr txBox="1"/>
          <p:nvPr/>
        </p:nvSpPr>
        <p:spPr>
          <a:xfrm>
            <a:off x="203200" y="203368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Analyses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203200" y="-1421810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 err="1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Dockerisation</a:t>
            </a:r>
            <a:endParaRPr lang="fr-FR" sz="6000" dirty="0">
              <a:solidFill>
                <a:schemeClr val="bg1"/>
              </a:solidFill>
              <a:latin typeface="Bahnschrift SemiLight" panose="020B0502040204020203" pitchFamily="34" charset="0"/>
              <a:cs typeface="Cascadia Mono Light" panose="020B0609020000020004" pitchFamily="49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203200" y="-1351775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Bilan critique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" y="1625768"/>
            <a:ext cx="6642100" cy="420808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12" name="Connecteur droit 11"/>
          <p:cNvCxnSpPr/>
          <p:nvPr/>
        </p:nvCxnSpPr>
        <p:spPr>
          <a:xfrm>
            <a:off x="7143750" y="1643881"/>
            <a:ext cx="0" cy="34415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/>
          <p:cNvSpPr txBox="1"/>
          <p:nvPr/>
        </p:nvSpPr>
        <p:spPr>
          <a:xfrm>
            <a:off x="7353301" y="1739900"/>
            <a:ext cx="48386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Analyses simples : </a:t>
            </a:r>
          </a:p>
          <a:p>
            <a:r>
              <a:rPr lang="fr-FR" sz="2400" dirty="0"/>
              <a:t>- Nombre d’offres collectée</a:t>
            </a:r>
          </a:p>
          <a:p>
            <a:r>
              <a:rPr lang="fr-FR" sz="2400" dirty="0"/>
              <a:t>- Répartition par sources</a:t>
            </a:r>
          </a:p>
          <a:p>
            <a:r>
              <a:rPr lang="fr-FR" sz="2400" dirty="0"/>
              <a:t>- Répartition par types de contrat ...</a:t>
            </a:r>
          </a:p>
          <a:p>
            <a:r>
              <a:rPr lang="fr-FR" sz="2400" b="1" dirty="0"/>
              <a:t>Analyses géographiques :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Par région / département / ville</a:t>
            </a:r>
          </a:p>
          <a:p>
            <a:r>
              <a:rPr lang="fr-FR" sz="2400" b="1" dirty="0"/>
              <a:t>Analyses NLP :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Compétences les plus demandées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Soft </a:t>
            </a:r>
            <a:r>
              <a:rPr lang="fr-FR" sz="2400" dirty="0" err="1"/>
              <a:t>skills</a:t>
            </a: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Évolution dans le temps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8059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0C3F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203200" y="203368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Bilan critique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03200" y="-1421810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Analyses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10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B1B8451-AF21-AE01-8814-89322223A841}"/>
              </a:ext>
            </a:extLst>
          </p:cNvPr>
          <p:cNvSpPr txBox="1"/>
          <p:nvPr/>
        </p:nvSpPr>
        <p:spPr>
          <a:xfrm>
            <a:off x="203200" y="1642342"/>
            <a:ext cx="11988800" cy="1493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/>
              <a:t>▶</a:t>
            </a:r>
            <a:r>
              <a:rPr lang="fr-FR" sz="3200" dirty="0"/>
              <a:t> Application efficace, </a:t>
            </a:r>
            <a:r>
              <a:rPr lang="fr-FR" sz="3200" dirty="0" err="1"/>
              <a:t>Streamlit</a:t>
            </a:r>
            <a:r>
              <a:rPr lang="fr-FR" sz="3200" dirty="0"/>
              <a:t> + API, enrichissements NLP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▶</a:t>
            </a:r>
            <a:r>
              <a:rPr lang="fr-FR" sz="3200" dirty="0"/>
              <a:t> Excellente base pour continuer à itérer et rajouter des améliorations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543E635-43E1-F59C-4E6C-7F4E857A2CEE}"/>
              </a:ext>
            </a:extLst>
          </p:cNvPr>
          <p:cNvCxnSpPr/>
          <p:nvPr/>
        </p:nvCxnSpPr>
        <p:spPr>
          <a:xfrm>
            <a:off x="3210232" y="3269226"/>
            <a:ext cx="57715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2" descr="Logo.png">
            <a:extLst>
              <a:ext uri="{FF2B5EF4-FFF2-40B4-BE49-F238E27FC236}">
                <a16:creationId xmlns:a16="http://schemas.microsoft.com/office/drawing/2014/main" id="{76119B99-E4F8-8DEE-BE39-6693B364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652" y="-133165"/>
            <a:ext cx="1695635" cy="169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CF06414D-EB05-EE9B-9799-82290E06C729}"/>
              </a:ext>
            </a:extLst>
          </p:cNvPr>
          <p:cNvSpPr txBox="1"/>
          <p:nvPr/>
        </p:nvSpPr>
        <p:spPr>
          <a:xfrm>
            <a:off x="203200" y="3319430"/>
            <a:ext cx="1198880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 dirty="0"/>
              <a:t>Possibilités d’ajouter :</a:t>
            </a:r>
          </a:p>
          <a:p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▶</a:t>
            </a:r>
            <a:r>
              <a:rPr lang="fr-FR" sz="2800" dirty="0"/>
              <a:t> Scores de profil, score de qualité de l’offre …</a:t>
            </a:r>
          </a:p>
          <a:p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▶</a:t>
            </a:r>
            <a:r>
              <a:rPr lang="fr-FR" sz="2800" dirty="0"/>
              <a:t> Analyses de biais, salariale avec benchmarks, de sentiment de l’offre …</a:t>
            </a:r>
          </a:p>
          <a:p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▶ Enrichissement avec </a:t>
            </a:r>
            <a:r>
              <a:rPr kumimoji="0" 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Glassdoor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nouvelles APIs, résumés d’offres …</a:t>
            </a:r>
          </a:p>
          <a:p>
            <a:r>
              <a:rPr lang="fr-FR" sz="2800" dirty="0">
                <a:solidFill>
                  <a:prstClr val="black"/>
                </a:solidFill>
              </a:rPr>
              <a:t>▶ </a:t>
            </a:r>
            <a:r>
              <a:rPr lang="fr-FR" sz="2800" dirty="0" err="1">
                <a:solidFill>
                  <a:prstClr val="black"/>
                </a:solidFill>
              </a:rPr>
              <a:t>Detection</a:t>
            </a:r>
            <a:r>
              <a:rPr lang="fr-FR" sz="2800" dirty="0">
                <a:solidFill>
                  <a:prstClr val="black"/>
                </a:solidFill>
              </a:rPr>
              <a:t> de biais, de phrases problématiques, de contrats illégaux …</a:t>
            </a:r>
          </a:p>
          <a:p>
            <a:r>
              <a:rPr lang="fr-FR" sz="2800" dirty="0">
                <a:solidFill>
                  <a:prstClr val="black"/>
                </a:solidFill>
              </a:rPr>
              <a:t>▶ </a:t>
            </a:r>
            <a:r>
              <a:rPr lang="fr-FR" sz="2800" dirty="0" err="1">
                <a:solidFill>
                  <a:prstClr val="black"/>
                </a:solidFill>
              </a:rPr>
              <a:t>Chatbot</a:t>
            </a:r>
            <a:r>
              <a:rPr lang="fr-FR" sz="2800" dirty="0">
                <a:solidFill>
                  <a:prstClr val="black"/>
                </a:solidFill>
              </a:rPr>
              <a:t> RAG …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757659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.png">
            <a:extLst>
              <a:ext uri="{FF2B5EF4-FFF2-40B4-BE49-F238E27FC236}">
                <a16:creationId xmlns:a16="http://schemas.microsoft.com/office/drawing/2014/main" id="{7959A52D-CD06-CE20-A26D-A1BB05B8F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100" y="203368"/>
            <a:ext cx="6934200" cy="693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chier:Logo Université Lumière Lyon 2.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" y="5119100"/>
            <a:ext cx="2638425" cy="148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/>
          <p:cNvSpPr txBox="1"/>
          <p:nvPr/>
        </p:nvSpPr>
        <p:spPr>
          <a:xfrm>
            <a:off x="292100" y="1413574"/>
            <a:ext cx="68453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600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defRPr>
            </a:lvl1pPr>
          </a:lstStyle>
          <a:p>
            <a:r>
              <a:rPr lang="fr-FR" dirty="0">
                <a:solidFill>
                  <a:schemeClr val="tx1"/>
                </a:solidFill>
              </a:rPr>
              <a:t>Merci de nous avoir écouté.</a:t>
            </a:r>
          </a:p>
          <a:p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11" name="Connecteur droit 10"/>
          <p:cNvCxnSpPr/>
          <p:nvPr/>
        </p:nvCxnSpPr>
        <p:spPr>
          <a:xfrm>
            <a:off x="292100" y="3557544"/>
            <a:ext cx="5486400" cy="0"/>
          </a:xfrm>
          <a:prstGeom prst="line">
            <a:avLst/>
          </a:prstGeom>
          <a:ln>
            <a:solidFill>
              <a:srgbClr val="133F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114300" y="3798843"/>
            <a:ext cx="6045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sz="2800" dirty="0"/>
          </a:p>
          <a:p>
            <a:pPr algn="ctr"/>
            <a:endParaRPr lang="fr-FR" sz="2800" dirty="0"/>
          </a:p>
        </p:txBody>
      </p:sp>
      <p:sp>
        <p:nvSpPr>
          <p:cNvPr id="17" name="ZoneTexte 16"/>
          <p:cNvSpPr txBox="1"/>
          <p:nvPr/>
        </p:nvSpPr>
        <p:spPr>
          <a:xfrm>
            <a:off x="2632075" y="6218773"/>
            <a:ext cx="7054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Cyrille PECNIK - Mohamed Riad SAHRANE - Olivier BOROT</a:t>
            </a:r>
          </a:p>
          <a:p>
            <a:pPr algn="ctr"/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0" y="-1691464"/>
            <a:ext cx="12192000" cy="1422400"/>
          </a:xfrm>
          <a:prstGeom prst="rect">
            <a:avLst/>
          </a:prstGeom>
          <a:solidFill>
            <a:srgbClr val="0C3F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203200" y="-1605139"/>
            <a:ext cx="101659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Bahnschrift SemiLight" panose="020B0502040204020203" pitchFamily="34" charset="0"/>
                <a:cs typeface="Cascadia Mono Light" panose="020B0609020000020004" pitchFamily="49" charset="0"/>
              </a:rPr>
              <a:t>Bilan critique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80C-99FA-4D36-8226-50AECB67027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2997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lnSpc>
            <a:spcPct val="150000"/>
          </a:lnSpc>
          <a:defRPr sz="2400" dirty="0">
            <a:latin typeface="Cambria Math" panose="02040503050406030204" pitchFamily="18" charset="0"/>
            <a:ea typeface="Cambria Math" panose="02040503050406030204" pitchFamily="18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2023</TotalTime>
  <Words>491</Words>
  <Application>Microsoft Office PowerPoint</Application>
  <PresentationFormat>Grand écran</PresentationFormat>
  <Paragraphs>145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Bahnschrift SemiLight</vt:lpstr>
      <vt:lpstr>Calibri</vt:lpstr>
      <vt:lpstr>Calibri Light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TEXTE</dc:title>
  <dc:creator>BOROT_Olivier</dc:creator>
  <cp:lastModifiedBy>Olivier Borot</cp:lastModifiedBy>
  <cp:revision>446</cp:revision>
  <dcterms:created xsi:type="dcterms:W3CDTF">2022-12-06T10:39:55Z</dcterms:created>
  <dcterms:modified xsi:type="dcterms:W3CDTF">2026-01-22T13:02:51Z</dcterms:modified>
</cp:coreProperties>
</file>